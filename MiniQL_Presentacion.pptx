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2834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09728" cy="28346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10312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5B9BF8"/>
                </a:solidFill>
                <a:latin typeface="Calibri"/>
              </a:rPr>
              <a:t>MiniQL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Intérprete de Consultas sobre Archivos CSV con ANTLR4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611880"/>
            <a:ext cx="5486400" cy="27432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AC0"/>
                </a:solidFill>
                <a:latin typeface="Calibri"/>
              </a:rPr>
              <a:t>Proyecto Final — Lenguajes de Programación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4"/>
                </a:solidFill>
                <a:latin typeface="Calibri"/>
              </a:rPr>
              <a:t>Adrian YR   |   adrincon@unal.edu.co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AC0"/>
                </a:solidFill>
                <a:latin typeface="Calibri"/>
              </a:rPr>
              <a:t>Universidad Nacional de Colombia — Ingeniería de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AC0"/>
                </a:solidFill>
                <a:latin typeface="Calibri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AC0"/>
                </a:solidFill>
                <a:latin typeface="Calibri"/>
              </a:rPr>
              <a:t>¿Por qué construir MiniQL?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CCD6F4"/>
                </a:solidFill>
                <a:latin typeface="Calibri"/>
              </a:rPr>
              <a:t>• El análisis de datos tabulares (CSV) es cotidiano en ingeniería y ciencia de datos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CCD6F4"/>
                </a:solidFill>
                <a:latin typeface="Calibri"/>
              </a:rPr>
              <a:t>• Herramientas existentes (Excel, pandas, SQL) requieren configuraciones o conocimientos previos complejos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CCD6F4"/>
                </a:solidFill>
                <a:latin typeface="Calibri"/>
              </a:rPr>
              <a:t>• Los procesadores de lenguajes permiten crear soluciones a medida con sintaxis de dominio específico (DSL)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CCD6F4"/>
                </a:solidFill>
                <a:latin typeface="Calibri"/>
              </a:rPr>
              <a:t>• Relevancia académica: aplica teoría de lenguajes (gramáticas, AST, Visitors) en un problema real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CCD6F4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5B9BF8"/>
                </a:solidFill>
                <a:latin typeface="Calibri"/>
              </a:rPr>
              <a:t>PREGUNTA CENTRAL: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A8FF78"/>
                </a:solidFill>
                <a:latin typeface="Consolas"/>
              </a:rPr>
              <a:t>  ¿Es posible construir un mini-lenguaje de consultas funcional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A8FF78"/>
                </a:solidFill>
                <a:latin typeface="Consolas"/>
              </a:rPr>
              <a:t>  y accesible usando únicamente ANTLR4 y Python?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Antecedentes y Trabajos Relacionados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7772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9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F8"/>
                </a:solidFill>
                <a:latin typeface="Calibri"/>
              </a:rPr>
              <a:t>SQL (1974)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2395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4"/>
                </a:solidFill>
                <a:latin typeface="Calibri"/>
              </a:rPr>
              <a:t>Lenguaje de consultas estándar; referente directo del diseño de MiniQL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75688"/>
            <a:ext cx="11430000" cy="7772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75688"/>
            <a:ext cx="54864" cy="7772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64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F8"/>
                </a:solidFill>
                <a:latin typeface="Calibri"/>
              </a:rPr>
              <a:t>q / textql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2648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4"/>
                </a:solidFill>
                <a:latin typeface="Calibri"/>
              </a:rPr>
              <a:t>Herramientas que permiten consultas SQL sobre CSV desde terminal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62656"/>
            <a:ext cx="11430000" cy="7772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62656"/>
            <a:ext cx="54864" cy="7772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34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F8"/>
                </a:solidFill>
                <a:latin typeface="Calibri"/>
              </a:rPr>
              <a:t>ANTLR4 (Parr, 2013)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13456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4"/>
                </a:solidFill>
                <a:latin typeface="Calibri"/>
              </a:rPr>
              <a:t>Generador de parsers LL(*), ampliamente usado en compiladores e intérpretes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9624"/>
            <a:ext cx="11430000" cy="7772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9624"/>
            <a:ext cx="54864" cy="7772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004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F8"/>
                </a:solidFill>
                <a:latin typeface="Calibri"/>
              </a:rPr>
              <a:t>Patrón Visitor (GoF)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9004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4"/>
                </a:solidFill>
                <a:latin typeface="Calibri"/>
              </a:rPr>
              <a:t>Recorre el AST sin mezclar la gramática con la semántica de evaluación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36592"/>
            <a:ext cx="11430000" cy="7772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736592"/>
            <a:ext cx="54864" cy="7772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873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F8"/>
                </a:solidFill>
                <a:latin typeface="Calibri"/>
              </a:rPr>
              <a:t>Python + CustomTkinter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7873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4"/>
                </a:solidFill>
                <a:latin typeface="Calibri"/>
              </a:rPr>
              <a:t>Ecosistema para prototipado rápido con interfaz gráfica nativa multiplataforma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Objetivo del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9BF8"/>
                </a:solidFill>
                <a:latin typeface="Calibri"/>
              </a:rPr>
              <a:t>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4"/>
                </a:solidFill>
                <a:latin typeface="Calibri"/>
              </a:rPr>
              <a:t>Diseñar e implementar MiniQL, un intérprete de un mini-lenguaje de consultas (DSL) sobre archivos CSV, aplicando herramientas de procesamiento de lenguajes de programación.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11430000" cy="27432"/>
          </a:xfrm>
          <a:prstGeom prst="rect">
            <a:avLst/>
          </a:prstGeom>
          <a:solidFill>
            <a:srgbClr val="889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9BF8"/>
                </a:solidFill>
                <a:latin typeface="Calibri"/>
              </a:rPr>
              <a:t>Objetivos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CCD6F4"/>
                </a:solidFill>
                <a:latin typeface="Calibri"/>
              </a:rPr>
              <a:t>• Definir una gramática formal en ANTLR4 con 4 comandos: LOAD, SELECT, SORT BY, SHOW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CCD6F4"/>
                </a:solidFill>
                <a:latin typeface="Calibri"/>
              </a:rPr>
              <a:t>• Implementar expresiones WHERE con operadores lógicos (AND, OR, NOT) y de comparación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CCD6F4"/>
                </a:solidFill>
                <a:latin typeface="Calibri"/>
              </a:rPr>
              <a:t>• Aplicar el patrón Visitor para separar la gramática de la lógica de evaluación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CCD6F4"/>
                </a:solidFill>
                <a:latin typeface="Calibri"/>
              </a:rPr>
              <a:t>• Proveer dos interfaces: línea de comandos (main.py) y aplicación de escritorio (gui.py)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AC0"/>
                </a:solidFill>
                <a:latin typeface="Calibri"/>
              </a:rPr>
              <a:t>¿Qué es MiniQL?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4"/>
                </a:solidFill>
                <a:latin typeface="Calibri"/>
              </a:rPr>
              <a:t>Un lenguaje de dominio específico (DSL) minimalista inspirado en SQL para consultar archivos CSV desde scripts .mql o desde una GUI.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Proyección: SELECT col1, col2  o  SELECT *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Filtrado: WHERE con AND, OR, NOT y paréntesis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Comparaciones: =  !=  &lt;  &gt;  &lt;=  &gt;=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Tipos: "cadenas", enteros, flotantes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Ordenamiento: SORT BY col ASC|DESC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Interfaz gráfica + línea de comandos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594360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54864" cy="5394960"/>
          </a:xfrm>
          <a:prstGeom prst="rect">
            <a:avLst/>
          </a:prstGeom>
          <a:solidFill>
            <a:srgbClr val="A8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234440"/>
            <a:ext cx="5623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FF78"/>
                </a:solidFill>
                <a:latin typeface="Calibri"/>
              </a:rPr>
              <a:t>// Script MiniQL de ejemplo
LOAD "examples/empleados.csv"
// Todos los registros
SELECT *
SHOW
// Ingenieros con salario &gt; $5M
SELECT nombre, nivel, salario
  WHERE departamento = "Ingeniería"
  AND salario &gt; 5000000
SHOW
// Ordenar por salario desc
SORT BY salario DESC
SHOW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Implementación — Arquitectura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192024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54864" cy="822960"/>
          </a:xfrm>
          <a:prstGeom prst="rect">
            <a:avLst/>
          </a:prstGeom>
          <a:solidFill>
            <a:srgbClr val="889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307592"/>
            <a:ext cx="1792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89AC0"/>
                </a:solidFill>
                <a:latin typeface="Calibri"/>
              </a:rPr>
              <a:t>archivo.mql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7128" y="14630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AC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0008" y="1234440"/>
            <a:ext cx="192024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50008" y="1234440"/>
            <a:ext cx="54864" cy="82296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9736" y="1307592"/>
            <a:ext cx="1792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F8"/>
                </a:solidFill>
                <a:latin typeface="Calibri"/>
              </a:rPr>
              <a:t>MiniQLLexer
(tokens)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14630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AC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1234440"/>
            <a:ext cx="192024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1234440"/>
            <a:ext cx="54864" cy="82296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307592"/>
            <a:ext cx="1792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F8"/>
                </a:solidFill>
                <a:latin typeface="Calibri"/>
              </a:rPr>
              <a:t>MiniQLParser
(AST)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4630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AC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2824" y="1234440"/>
            <a:ext cx="192024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92824" y="1234440"/>
            <a:ext cx="54864" cy="8229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307592"/>
            <a:ext cx="1792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C74F"/>
                </a:solidFill>
                <a:latin typeface="Calibri"/>
              </a:rPr>
              <a:t>MiniQL
Interpreter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14630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AC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14232" y="1234440"/>
            <a:ext cx="192024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4232" y="1234440"/>
            <a:ext cx="54864" cy="822960"/>
          </a:xfrm>
          <a:prstGeom prst="rect">
            <a:avLst/>
          </a:prstGeom>
          <a:solidFill>
            <a:srgbClr val="A8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1307592"/>
            <a:ext cx="1792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FF78"/>
                </a:solidFill>
                <a:latin typeface="Calibri"/>
              </a:rPr>
              <a:t>Resultado
(tabla)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F8"/>
                </a:solidFill>
                <a:latin typeface="Calibri"/>
              </a:rPr>
              <a:t>Componentes clave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97480"/>
            <a:ext cx="5303520" cy="56692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7355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MiniQL.g4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7355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Gramática formal ANTLR4 — reglas léxicas y sintácticas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337560"/>
            <a:ext cx="5303520" cy="56692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3756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MiniQLLexer / Parser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3756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Generados automáticamente por ANTLR4 desde la gramática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77640"/>
            <a:ext cx="5303520" cy="56692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0157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interpreter.py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0157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Visitor concreto que evalúa el AST — corazón del intérprete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617720"/>
            <a:ext cx="5303520" cy="56692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6558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main.py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6558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Punto de entrada para uso en línea de comandos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257800"/>
            <a:ext cx="5303520" cy="56692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2959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gui.py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2959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Aplicación de escritorio con CustomTkinter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2286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F8"/>
                </a:solidFill>
                <a:latin typeface="Calibri"/>
              </a:rPr>
              <a:t>Decisiones de diseño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269748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Patrón Visitor separa gramática de semántica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Condiciones WHERE como lambdas Python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A8FF78"/>
                </a:solidFill>
                <a:latin typeface="Consolas"/>
              </a:rPr>
              <a:t>  → funciones de primera clase componibles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filter() + map() — evaluación funcional pura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Coerción de tipos: int → float → str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A8FF78"/>
                </a:solidFill>
                <a:latin typeface="Consolas"/>
              </a:rPr>
              <a:t>  → comparaciones numéricamente correctas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Implementación — Gramática y Patrón Visitor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F8"/>
                </a:solidFill>
                <a:latin typeface="Calibri"/>
              </a:rPr>
              <a:t>Gramática MiniQL.g4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  <a:latin typeface="Calibri"/>
              </a:rPr>
              <a:t>program → statement+ EOF
statement
  : loadStmt   → LOAD "archivo.csv"
  | selectStmt → SELECT cols WHERE cond
  | sortStmt   → SORT BY col ASC|DESC
  | showStmt   → SHOW
condition
  : condition OR  condition
  | condition AND condition
  | NOT condition
  | ( condition )
  | comparison
comparison → ID op value
op: =  !=  &lt;  &gt;  &lt;=  &gt;=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F8"/>
                </a:solidFill>
                <a:latin typeface="Calibri"/>
              </a:rPr>
              <a:t>Visitor — interpreter.py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577840" cy="548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4572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79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visitLoadStmt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579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Lee CSV → lista de dicts (_data)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76272"/>
            <a:ext cx="5577840" cy="548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76272"/>
            <a:ext cx="4572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016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visitSelectStmt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016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filter(_data, pred) + map(cols)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98064"/>
            <a:ext cx="5577840" cy="548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98064"/>
            <a:ext cx="4572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8234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visitSortStmt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8234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sorted(_view, key=_coerce)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419856"/>
            <a:ext cx="5577840" cy="548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19856"/>
            <a:ext cx="4572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4452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visitShowStmt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4452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Imprime tabla ASCII o acumula en GUI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41648"/>
            <a:ext cx="5577840" cy="548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041648"/>
            <a:ext cx="4572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670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visitAndCond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0670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lambda row: left(row) and right(row)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63440"/>
            <a:ext cx="5577840" cy="548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663440"/>
            <a:ext cx="4572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688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visitOrCond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688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lambda row: left(row) or right(row)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285232"/>
            <a:ext cx="5577840" cy="548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5285232"/>
            <a:ext cx="4572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3106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visitNotCond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3106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lambda row: not inner(row)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907024"/>
            <a:ext cx="5577840" cy="5486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5907024"/>
            <a:ext cx="4572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93242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visitComparison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93242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4"/>
                </a:solidFill>
                <a:latin typeface="Calibri"/>
              </a:rPr>
              <a:t>lambda row: _OPS[op](coerce(row[col]), lit)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Pruebas y Validación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91440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" cy="91440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4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8"/>
                </a:solidFill>
                <a:latin typeface="Calibri"/>
              </a:rPr>
              <a:t>E1 — SELECT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  <a:latin typeface="Calibri"/>
              </a:rPr>
              <a:t>LOAD "examples/datos.csv"  →  SELECT *  → 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2141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C74F"/>
                </a:solidFill>
                <a:latin typeface="Calibri"/>
              </a:rPr>
              <a:t>✓ 12 filas mostradas correctamente con columnas y tipos.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12848"/>
            <a:ext cx="11612880" cy="91440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54864" cy="91440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38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8"/>
                </a:solidFill>
                <a:latin typeface="Calibri"/>
              </a:rPr>
              <a:t>E2 — Filtro AND compuesto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  <a:latin typeface="Calibri"/>
              </a:rPr>
              <a:t>SELECT nombre, salario WHERE departamento = "Ingeniería" AND salario &gt; 3000000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38248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C74F"/>
                </a:solidFill>
                <a:latin typeface="Calibri"/>
              </a:rPr>
              <a:t>✓ 3 filas: Ana García, Juan Martínez, Sofía Ramírez.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36976"/>
            <a:ext cx="11612880" cy="91440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36976"/>
            <a:ext cx="54864" cy="91440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623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8"/>
                </a:solidFill>
                <a:latin typeface="Calibri"/>
              </a:rPr>
              <a:t>E3 — Ordenamiento DESC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0273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  <a:latin typeface="Calibri"/>
              </a:rPr>
              <a:t>SORT BY salario DESC  → 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262376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C74F"/>
                </a:solidFill>
                <a:latin typeface="Calibri"/>
              </a:rPr>
              <a:t>✓ Juan Martínez (5.1M) → Sofía Ramírez (4.4M) → Ana García (3.5M).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61104"/>
            <a:ext cx="11612880" cy="91440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261104"/>
            <a:ext cx="54864" cy="91440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865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8"/>
                </a:solidFill>
                <a:latin typeface="Calibri"/>
              </a:rPr>
              <a:t>E4 — Dataset grande (200 filas)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2686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  <a:latin typeface="Calibri"/>
              </a:rPr>
              <a:t>SELECT nombre, nivel, salario WHERE departamento = "Ingeniería" AND nivel = "Senior"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286504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C74F"/>
                </a:solidFill>
                <a:latin typeface="Calibri"/>
              </a:rPr>
              <a:t>✓ Filtrado correcto sobre empleados.csv — sin errores.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85232"/>
            <a:ext cx="11612880" cy="91440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285232"/>
            <a:ext cx="54864" cy="91440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10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8"/>
                </a:solidFill>
                <a:latin typeface="Calibri"/>
              </a:rPr>
              <a:t>E5 — Manejo de errores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509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FF78"/>
                </a:solidFill>
                <a:latin typeface="Calibri"/>
              </a:rPr>
              <a:t>Token inválido / CSV no encontrado / columna inexistente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310632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C74F"/>
                </a:solidFill>
                <a:latin typeface="Calibri"/>
              </a:rPr>
              <a:t>✓ Error sintáctico con línea y columna exactas. FileNotFoundError. KeyError descriptivo.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Conclusiones y Trabajos Futuros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9BF8"/>
                </a:solidFill>
                <a:latin typeface="Calibri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ANTLR4 permite construir intérpretes completos con mínimo código manual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A8FF78"/>
                </a:solidFill>
                <a:latin typeface="Consolas"/>
              </a:rPr>
              <a:t>  separando claramente gramática y semántica de evaluación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El patrón Visitor facilita extender el lenguaje sin tocar la gramática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Las lambdas Python para WHERE demuestran el poder de la programación funcional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A8FF78"/>
                </a:solidFill>
                <a:latin typeface="Consolas"/>
              </a:rPr>
              <a:t>  para componer expresiones booleanas de forma limpia y legible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MiniQL es una herramienta funcional real: consulta CSVs desde GUI o terminal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43000"/>
            <a:ext cx="45720" cy="5303520"/>
          </a:xfrm>
          <a:prstGeom prst="rect">
            <a:avLst/>
          </a:prstGeom>
          <a:solidFill>
            <a:srgbClr val="889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C74F"/>
                </a:solidFill>
                <a:latin typeface="Calibri"/>
              </a:rPr>
              <a:t>Trabajos Futuros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JOIN entre dos archivos CSV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Funciones de agregación: COUNT, SUM, AVG, MAX, MIN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Exportar resultados a CSV / JSON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Variables y reutilización de consultas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Resaltado de sintaxis en el editor de la GUI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F4"/>
                </a:solidFill>
                <a:latin typeface="Calibri"/>
              </a:rPr>
              <a:t>• Soporte de subconsultas anidadas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5B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F4"/>
                </a:solidFill>
                <a:latin typeface="Calibri"/>
              </a:rPr>
              <a:t>[1] T. Parr, "The Definitive ANTLR 4 Reference", Pragmatic Bookshelf, 2013.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F4"/>
                </a:solidFill>
                <a:latin typeface="Calibri"/>
              </a:rPr>
              <a:t>[2] ANTLR4 Python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AC0"/>
                </a:solidFill>
                <a:latin typeface="Calibri"/>
              </a:rPr>
              <a:t>https://github.com/antlr/antlr4/tree/master/runtime/Python3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F4"/>
                </a:solidFill>
                <a:latin typeface="Calibri"/>
              </a:rPr>
              <a:t>[3] CustomTkinter — T. Schimansky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AC0"/>
                </a:solidFill>
                <a:latin typeface="Calibri"/>
              </a:rPr>
              <a:t>https://github.com/TomSchimansky/CustomTkinter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181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F4"/>
                </a:solidFill>
                <a:latin typeface="Calibri"/>
              </a:rPr>
              <a:t>[4] E. Gamma et al., "Design Patterns: Elements of Reusable Object-Oriented Software",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AC0"/>
                </a:solidFill>
                <a:latin typeface="Calibri"/>
              </a:rPr>
              <a:t>Addison-Wesley, 1994. (Patron Visitor)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7705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F4"/>
                </a:solidFill>
                <a:latin typeface="Calibri"/>
              </a:rPr>
              <a:t>[5] textql — Execute SQL against CSV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885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AC0"/>
                </a:solidFill>
                <a:latin typeface="Calibri"/>
              </a:rPr>
              <a:t>https://github.com/dinedal/textql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360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F4"/>
                </a:solidFill>
                <a:latin typeface="Calibri"/>
              </a:rPr>
              <a:t>[6] Python Software Foundation — Python 3.10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474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AC0"/>
                </a:solidFill>
                <a:latin typeface="Calibri"/>
              </a:rPr>
              <a:t>https://docs.python.org/3.10/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